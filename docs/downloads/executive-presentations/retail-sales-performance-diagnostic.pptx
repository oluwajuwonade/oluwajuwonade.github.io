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12161B"/>
          </a:solidFill>
          <a:ln>
            <a:solidFill>
              <a:srgbClr val="121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75320" y="0"/>
            <a:ext cx="54864" cy="6858000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704088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950" b="1" i="0">
                <a:solidFill>
                  <a:srgbClr val="8FE3CF"/>
                </a:solidFill>
                <a:latin typeface="Aptos"/>
              </a:rPr>
              <a:t>EXECUTIVE BUSINESS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7223760" cy="17830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3200" b="1" i="0">
                <a:solidFill>
                  <a:srgbClr val="F2F5F7"/>
                </a:solidFill>
                <a:latin typeface="Aptos"/>
              </a:rPr>
              <a:t>Retail Sales
Performance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720840" cy="67665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500" b="0" i="0">
                <a:solidFill>
                  <a:srgbClr val="A6B0B9"/>
                </a:solidFill>
                <a:latin typeface="Aptos"/>
              </a:rPr>
              <a:t>Executive diagnosis, KPI assurance, and a 30-day decision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BUSINESS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QUANTITATIVE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2584" y="4041648"/>
            <a:ext cx="1856231" cy="329184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142232"/>
            <a:ext cx="1783080" cy="13716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ctr"/>
            <a:r>
              <a:rPr sz="700" b="1" i="0">
                <a:solidFill>
                  <a:srgbClr val="8FE3CF"/>
                </a:solidFill>
                <a:latin typeface="Aptos"/>
              </a:rPr>
              <a:t>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82312"/>
            <a:ext cx="5212080" cy="521207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150" b="0" i="0">
                <a:solidFill>
                  <a:srgbClr val="F2F5F7"/>
                </a:solidFill>
                <a:latin typeface="Aptos"/>
              </a:rPr>
              <a:t>Prepared by Oluwajuwon Adediji
Data &amp; Quantitative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97296"/>
            <a:ext cx="5303520" cy="1828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00" b="1" i="0">
                <a:solidFill>
                  <a:srgbClr val="EFB65A"/>
                </a:solidFill>
                <a:latin typeface="Aptos"/>
              </a:rPr>
              <a:t>PORTFOLIO SAMPLE · NOT CLIENT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685800"/>
            <a:ext cx="292608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THE MANAGEMENT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097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00" b="0" i="0">
                <a:solidFill>
                  <a:srgbClr val="A6B0B9"/>
                </a:solidFill>
                <a:latin typeface="Aptos"/>
              </a:rPr>
              <a:t>Reported revenue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389888"/>
            <a:ext cx="2880360" cy="4114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400" b="1" i="0">
                <a:solidFill>
                  <a:srgbClr val="FA8F8F"/>
                </a:solidFill>
                <a:latin typeface="Aptos"/>
              </a:rPr>
              <a:t>-14.8%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920240"/>
            <a:ext cx="292608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41080" y="2240280"/>
            <a:ext cx="2926080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00" b="0" i="0">
                <a:solidFill>
                  <a:srgbClr val="A6B0B9"/>
                </a:solidFill>
                <a:latin typeface="Aptos"/>
              </a:rPr>
              <a:t>Unit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532888"/>
            <a:ext cx="2880360" cy="4114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400" b="1" i="0">
                <a:solidFill>
                  <a:srgbClr val="8FE3CF"/>
                </a:solidFill>
                <a:latin typeface="Aptos"/>
              </a:rPr>
              <a:t>+48.3%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46120"/>
            <a:ext cx="2788920" cy="9144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100" b="0" i="0">
                <a:solidFill>
                  <a:srgbClr val="F2F5F7"/>
                </a:solidFill>
                <a:latin typeface="Aptos"/>
              </a:rPr>
              <a:t>Why did revenue and profit fall while volume rose?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01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Volume improved, but value realization and profit weakened. Treat the driver story as provisional until KPIs reconcile.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Revenue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-14.8% reported H1→H2 movement. Confirm period, net/gross definition, returns and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Unit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+48.3% reported H1→H2 movement. Increased volume did not translate into stronger value realization.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Average selling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-33.1% reported movement. Definition and weighting need validation before attributing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Management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Reconcile revenue, units and ASP first; then investigate dimensions and test interventions with profit-aware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02 / PERFORMANCE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What the reported KPIs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H1 = 100 index. The chart is an executive screen for where to investigate, not causal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74519"/>
            <a:ext cx="2377440" cy="18288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00" b="1" i="0">
                <a:solidFill>
                  <a:srgbClr val="8FE3CF"/>
                </a:solidFill>
                <a:latin typeface="Aptos"/>
              </a:rPr>
              <a:t>H2 INDEX (H1 = 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196596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31720"/>
            <a:ext cx="5669280" cy="292608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17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331720"/>
            <a:ext cx="3018891" cy="292608"/>
          </a:xfrm>
          <a:prstGeom prst="roundRect">
            <a:avLst>
              <a:gd name="adj" fmla="val 12000"/>
            </a:avLst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318003"/>
            <a:ext cx="621792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85.2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26663"/>
            <a:ext cx="196596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Units sold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026663"/>
            <a:ext cx="5669280" cy="292608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17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88920" y="3026663"/>
            <a:ext cx="5254713" cy="292608"/>
          </a:xfrm>
          <a:prstGeom prst="roundRect">
            <a:avLst>
              <a:gd name="adj" fmla="val 12000"/>
            </a:avLst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2947"/>
            <a:ext cx="621792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148.3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196596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Average selling 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721608"/>
            <a:ext cx="5669280" cy="292608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17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88920" y="3721608"/>
            <a:ext cx="2370467" cy="292608"/>
          </a:xfrm>
          <a:prstGeom prst="roundRect">
            <a:avLst>
              <a:gd name="adj" fmla="val 12000"/>
            </a:avLst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707892"/>
            <a:ext cx="621792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66.9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1965960" cy="22860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Profit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416552"/>
            <a:ext cx="5669280" cy="292608"/>
          </a:xfrm>
          <a:prstGeom prst="roundRect">
            <a:avLst>
              <a:gd name="adj" fmla="val 12000"/>
            </a:avLst>
          </a:prstGeom>
          <a:solidFill>
            <a:srgbClr val="171C22"/>
          </a:solidFill>
          <a:ln>
            <a:solidFill>
              <a:srgbClr val="17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88920" y="4416552"/>
            <a:ext cx="2714167" cy="292608"/>
          </a:xfrm>
          <a:prstGeom prst="roundRect">
            <a:avLst>
              <a:gd name="adj" fmla="val 12000"/>
            </a:avLst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402836"/>
            <a:ext cx="621792" cy="274320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1" i="0">
                <a:solidFill>
                  <a:srgbClr val="F2F5F7"/>
                </a:solidFill>
                <a:latin typeface="Aptos"/>
              </a:rPr>
              <a:t>76.6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2" y="2121408"/>
            <a:ext cx="2212848" cy="2907792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17152" y="2121408"/>
            <a:ext cx="41148" cy="2907792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295144"/>
            <a:ext cx="1828800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697479"/>
            <a:ext cx="1828800" cy="22128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More units did not translate into stronger reported revenue or profit. Check price/discount pressure, mix shifts, and inconsistent definitions.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577840"/>
            <a:ext cx="10607040" cy="25603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900" b="0" i="1">
                <a:solidFill>
                  <a:srgbClr val="A6B0B9"/>
                </a:solidFill>
                <a:latin typeface="Aptos"/>
              </a:rPr>
              <a:t>Source figures describe a synthetic portfolio case. Validate before using the narrative externally.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03 /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KPI assurance gate: reconcile before explaining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Under Revenue = Units × weighted ASP, the published headline changes do not reconcile.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Units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148.3 (H1 = 100). Use consistent period and included transactions.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ASP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66.9. Recalculate as net revenue / units with consistent weights.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Implied revenue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148.3 × 66.9 / 100 = 99.2, or about -0.8%.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Reported revenue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85.2, or -14.8%. The 14.0-point gap is a definition / weighting / calculation exception until proven otherwise.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04 / ANALYTICAL WORKPLAN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Driver hypotheses to test after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These are hypotheses, not findings. Quantify each driver and distinguish correlation from causal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Price &amp; discount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Test realized price vs list price, discount rate, promotion exposure and price bands. Evidence: line-item price, discount and units.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Product / customer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Check whether volume shifted toward lower-ticket products, bundles or segments. Evidence: SKU, category, basket and cohort.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Channel / regional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Compare unit economics across regions, store/digital channels, fulfillment and fee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Returns, costs &amp; metric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Validate returns, cancellations, cost allocation, timing, currency and gross/net definitions. Evidence: return ledger and metric lineage.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05 /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30-day decision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Sequence the work from conflicting KPIs to a defensible, testable management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WEEK 1 · RECONCILE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Metric dictionary; source-to-report trace; tie out revenue, units, ASP and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WEEK 2 · 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Price-volume-mix bridge; product, segment and channel cuts; anomaly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WEEK 3 ·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Design a controlled price / discount or mix intervention with explicit guardrails.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WEEK 4 ·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Executive readout comparing lift, downside, confidence and operating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06 / REPORTING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Executive dashboard: signal, quality,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Leadership needs to know what changed, whether the numbers are trusted, and what decision comes next.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1929384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Net revenue · gross profit · contribution margin. Report value outcomes, not volume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1929384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Units · weighted ASP · discount rate. Drill down by product, region, segment and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32504"/>
            <a:ext cx="41148" cy="1929384"/>
          </a:xfrm>
          <a:prstGeom prst="rect">
            <a:avLst/>
          </a:prstGeom>
          <a:solidFill>
            <a:srgbClr val="EFB65A"/>
          </a:solidFill>
          <a:ln>
            <a:solidFill>
              <a:srgbClr val="EFB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RISK /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Returns rate · KPI reconciliation · data completeness. Flag definition mismatches before publication.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32504"/>
            <a:ext cx="5358384" cy="1929384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032504"/>
            <a:ext cx="41148" cy="1929384"/>
          </a:xfrm>
          <a:prstGeom prst="rect">
            <a:avLst/>
          </a:prstGeom>
          <a:solidFill>
            <a:srgbClr val="FA8F8F"/>
          </a:solidFill>
          <a:ln>
            <a:solidFill>
              <a:srgbClr val="FA8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4974336" cy="1234439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Pilot lift · guardrail breaches · next action / owner. Name the reviewer and review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058400" cy="20116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850" b="1" i="0">
                <a:solidFill>
                  <a:srgbClr val="8FE3CF"/>
                </a:solidFill>
                <a:latin typeface="Aptos"/>
              </a:rP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93776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2500" b="1" i="0">
                <a:solidFill>
                  <a:srgbClr val="F2F5F7"/>
                </a:solidFill>
                <a:latin typeface="Aptos"/>
              </a:rPr>
              <a:t>Approve the reconciliation sprint.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9576"/>
            <a:ext cx="10972800" cy="34747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50" b="0" i="0">
                <a:solidFill>
                  <a:srgbClr val="A6B0B9"/>
                </a:solidFill>
                <a:latin typeface="Aptos"/>
              </a:rPr>
              <a:t>Hold broad pricing changes until the KPI bridge is defensible.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627632"/>
            <a:ext cx="11064240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55664"/>
            <a:ext cx="11082528" cy="0"/>
          </a:xfrm>
          <a:prstGeom prst="line">
            <a:avLst/>
          </a:prstGeom>
          <a:ln w="101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052560" cy="155448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700" b="0" i="0">
                <a:solidFill>
                  <a:srgbClr val="A6B0B9"/>
                </a:solidFill>
                <a:latin typeface="Aptos"/>
              </a:rPr>
              <a:t>Oluwajuwon Adediji  ·  Data &amp; Quantitative Analyst  ·  Portfolio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10528"/>
            <a:ext cx="786384" cy="164592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r"/>
            <a:r>
              <a:rPr sz="750" b="1" i="0">
                <a:solidFill>
                  <a:srgbClr val="8FE3CF"/>
                </a:solidFill>
                <a:latin typeface="Aptos"/>
              </a:rP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358384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41148" cy="4041648"/>
          </a:xfrm>
          <a:prstGeom prst="rect">
            <a:avLst/>
          </a:prstGeom>
          <a:solidFill>
            <a:srgbClr val="8FE3CF"/>
          </a:solidFill>
          <a:ln>
            <a:solidFill>
              <a:srgbClr val="8F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REQUEST FROM FINANCE /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4974336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Transaction-level net revenue, units and selling price. Discounts, returns, cancellations, costs, periods, definitions and report filters.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20240"/>
            <a:ext cx="5358384" cy="4041648"/>
          </a:xfrm>
          <a:prstGeom prst="roundRect">
            <a:avLst>
              <a:gd name="adj" fmla="val 12000"/>
            </a:avLst>
          </a:prstGeom>
          <a:solidFill>
            <a:srgbClr val="12161B"/>
          </a:solidFill>
          <a:ln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20240"/>
            <a:ext cx="41148" cy="4041648"/>
          </a:xfrm>
          <a:prstGeom prst="rect">
            <a:avLst/>
          </a:prstGeom>
          <a:solidFill>
            <a:srgbClr val="87B7FF"/>
          </a:solidFill>
          <a:ln>
            <a:solidFill>
              <a:srgbClr val="87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93976"/>
            <a:ext cx="4974336" cy="32918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Aptos"/>
              </a:rPr>
              <a:t>APPROVAL TO MOVE FORWARD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4974336" cy="3346704"/>
          </a:xfrm>
          <a:prstGeom prst="rect">
            <a:avLst/>
          </a:prstGeom>
          <a:noFill/>
        </p:spPr>
        <p:txBody>
          <a:bodyPr wrap="square" lIns="27432" rIns="27432" tIns="22860" bIns="18288" anchor="t">
            <a:spAutoFit/>
          </a:bodyPr>
          <a:lstStyle/>
          <a:p>
            <a:pPr algn="l"/>
            <a:r>
              <a:rPr sz="1010" b="0" i="0">
                <a:solidFill>
                  <a:srgbClr val="A6B0B9"/>
                </a:solidFill>
                <a:latin typeface="Aptos"/>
              </a:rPr>
              <a:t>Name Finance and Commercial owners. Agree metric definitions and success thresholds. Review a reconciled driver bridge before test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Performance Diagnostic</dc:title>
  <dc:subject>Executive presentation portfolio sample</dc:subject>
  <dc:creator>Oluwajuwon Adediji</dc:creator>
  <cp:keywords>business analysis; quantitative research; decision support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